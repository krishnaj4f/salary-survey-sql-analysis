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383" r:id="rId6"/>
    <p:sldId id="391" r:id="rId7"/>
    <p:sldId id="397" r:id="rId8"/>
    <p:sldId id="408" r:id="rId9"/>
    <p:sldId id="407" r:id="rId10"/>
    <p:sldId id="406" r:id="rId11"/>
    <p:sldId id="405" r:id="rId12"/>
    <p:sldId id="404" r:id="rId13"/>
    <p:sldId id="403" r:id="rId14"/>
    <p:sldId id="411" r:id="rId15"/>
    <p:sldId id="3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360" y="1706879"/>
            <a:ext cx="7007290" cy="2113597"/>
          </a:xfrm>
        </p:spPr>
        <p:txBody>
          <a:bodyPr/>
          <a:lstStyle/>
          <a:p>
            <a:r>
              <a:rPr lang="en-US" sz="5400" dirty="0"/>
              <a:t>DA Milestone -1</a:t>
            </a:r>
            <a:br>
              <a:rPr lang="en-US" sz="5400" dirty="0"/>
            </a:br>
            <a:r>
              <a:rPr lang="en-US" sz="5400" dirty="0"/>
              <a:t>(Salary Insights and Compensation Trends)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2A9CF-8958-5668-982D-897DF42BB1FB}"/>
              </a:ext>
            </a:extLst>
          </p:cNvPr>
          <p:cNvSpPr txBox="1"/>
          <p:nvPr/>
        </p:nvSpPr>
        <p:spPr>
          <a:xfrm>
            <a:off x="9563878" y="5449078"/>
            <a:ext cx="23046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BY :-</a:t>
            </a:r>
          </a:p>
          <a:p>
            <a:r>
              <a:rPr lang="en-IN" dirty="0">
                <a:solidFill>
                  <a:schemeClr val="bg1"/>
                </a:solidFill>
              </a:rPr>
              <a:t>Krishna Kumar</a:t>
            </a:r>
          </a:p>
          <a:p>
            <a:r>
              <a:rPr lang="en-IN" dirty="0">
                <a:solidFill>
                  <a:schemeClr val="bg1"/>
                </a:solidFill>
              </a:rPr>
              <a:t>DADS/JULY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DC3502-9715-D67D-169B-1325253BBF44}"/>
              </a:ext>
            </a:extLst>
          </p:cNvPr>
          <p:cNvSpPr txBox="1"/>
          <p:nvPr/>
        </p:nvSpPr>
        <p:spPr>
          <a:xfrm>
            <a:off x="594360" y="2687216"/>
            <a:ext cx="8255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analyze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trends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industries, job titles, and countries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influencing compensation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education, experience, and gender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discover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top-paying roles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gaps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data through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Excel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apply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techniques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real-world HR insights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No. of records : 1020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No. of Columns : 16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Key Fields : Industry , Job Title ,Gender , Country , Salary(USD) , Experience , Education Level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Data Source : Salary Survey Dataset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Business Context : Provides global workforce compensation data to analyze the impact of experience , education ,and gender on pay equity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5D0BA4D-4DF8-BD46-F32C-31D3FAB6D6FC}"/>
              </a:ext>
            </a:extLst>
          </p:cNvPr>
          <p:cNvSpPr txBox="1"/>
          <p:nvPr/>
        </p:nvSpPr>
        <p:spPr>
          <a:xfrm>
            <a:off x="886409" y="464326"/>
            <a:ext cx="9479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8B97C77-AA70-4759-3363-03893D6AC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097" y="2053935"/>
            <a:ext cx="671690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and duplicate entries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currency (USD) and column names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date and numeric fields into consistent formats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Renamed columns (e.g., “Age Range” → “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Age_Range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calculated columns for grouped averages and medians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Verified data consistency through SQL validation queries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AD2453-C087-185E-E62F-5342863B9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56" y="2207913"/>
            <a:ext cx="5169459" cy="332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Tools And Analytical 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6DA82C-0541-6867-BE46-88EC8C90D0EE}"/>
              </a:ext>
            </a:extLst>
          </p:cNvPr>
          <p:cNvSpPr txBox="1"/>
          <p:nvPr/>
        </p:nvSpPr>
        <p:spPr>
          <a:xfrm>
            <a:off x="5176159" y="2585668"/>
            <a:ext cx="609755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Tools Used:-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bg1"/>
                </a:solidFill>
              </a:rPr>
              <a:t>MySQL:</a:t>
            </a:r>
            <a:r>
              <a:rPr lang="en-IN" dirty="0">
                <a:solidFill>
                  <a:schemeClr val="bg1"/>
                </a:solidFill>
              </a:rPr>
              <a:t> For query-based analysis, aggregation, and pattern discovery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bg1"/>
                </a:solidFill>
              </a:rPr>
              <a:t>Microsoft Excel:</a:t>
            </a:r>
            <a:r>
              <a:rPr lang="en-IN" dirty="0">
                <a:solidFill>
                  <a:schemeClr val="bg1"/>
                </a:solidFill>
              </a:rPr>
              <a:t> For dashboard creation, KPIs, and data visualization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Analytical Methods:- 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Descriptive Statistics (Average, Median, Min, Max)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Grouped Aggregations (Industry, Gender, Experience)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Cross-Dimensional Comparisons (Country + Education + Job Title)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-689778"/>
            <a:ext cx="8123465" cy="2098700"/>
          </a:xfrm>
        </p:spPr>
        <p:txBody>
          <a:bodyPr/>
          <a:lstStyle/>
          <a:p>
            <a:r>
              <a:rPr lang="en-US" dirty="0"/>
              <a:t>SQL Analysis Highlights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E97BCDC-2C87-1F1E-3C59-25D946413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123" y="3232688"/>
            <a:ext cx="557832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Average Salary by Industry and Gender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Salary Distribution by Education Level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Median Salary by Age Range and Gender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Highest Paying Job Titles per Country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Total Compensation by Job Title and Experience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070" y="467360"/>
            <a:ext cx="7633970" cy="553824"/>
          </a:xfrm>
        </p:spPr>
        <p:txBody>
          <a:bodyPr/>
          <a:lstStyle/>
          <a:p>
            <a:r>
              <a:rPr lang="en-US" dirty="0"/>
              <a:t>Excel Dashboard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CB063-DDBE-6832-D9FE-F0E9F72A1D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45937"/>
          <a:stretch>
            <a:fillRect/>
          </a:stretch>
        </p:blipFill>
        <p:spPr>
          <a:xfrm>
            <a:off x="341630" y="1127759"/>
            <a:ext cx="11250930" cy="547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9056" y="-190202"/>
            <a:ext cx="7936230" cy="1380760"/>
          </a:xfrm>
        </p:spPr>
        <p:txBody>
          <a:bodyPr/>
          <a:lstStyle/>
          <a:p>
            <a:r>
              <a:rPr lang="en-US" dirty="0"/>
              <a:t>Key Findings and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059672-557A-4A0E-82D6-7404EB28FC38}"/>
              </a:ext>
            </a:extLst>
          </p:cNvPr>
          <p:cNvSpPr txBox="1"/>
          <p:nvPr/>
        </p:nvSpPr>
        <p:spPr>
          <a:xfrm>
            <a:off x="5791979" y="2658853"/>
            <a:ext cx="61512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Industry Impact:</a:t>
            </a:r>
            <a:r>
              <a:rPr lang="en-US" dirty="0">
                <a:solidFill>
                  <a:schemeClr val="bg1"/>
                </a:solidFill>
              </a:rPr>
              <a:t> Technology and Finance industries have the highest pay scales.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Gender Disparity:</a:t>
            </a:r>
            <a:r>
              <a:rPr lang="en-US" dirty="0">
                <a:solidFill>
                  <a:schemeClr val="bg1"/>
                </a:solidFill>
              </a:rPr>
              <a:t> Males earn slightly higher, especially in technical roles.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Education Influence:</a:t>
            </a:r>
            <a:r>
              <a:rPr lang="en-US" dirty="0">
                <a:solidFill>
                  <a:schemeClr val="bg1"/>
                </a:solidFill>
              </a:rPr>
              <a:t> Master’s degree holders earn the most.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Experience Factor:</a:t>
            </a:r>
            <a:r>
              <a:rPr lang="en-US" dirty="0">
                <a:solidFill>
                  <a:schemeClr val="bg1"/>
                </a:solidFill>
              </a:rPr>
              <a:t> Higher years = higher pay.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Top Roles:</a:t>
            </a:r>
            <a:r>
              <a:rPr lang="en-US" dirty="0">
                <a:solidFill>
                  <a:schemeClr val="bg1"/>
                </a:solidFill>
              </a:rPr>
              <a:t> Data Scientists, Managers, and Analysts show top salaries.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KPI’S and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5857F7-D364-C7D9-B1BD-213BDE55919A}"/>
              </a:ext>
            </a:extLst>
          </p:cNvPr>
          <p:cNvSpPr txBox="1"/>
          <p:nvPr/>
        </p:nvSpPr>
        <p:spPr>
          <a:xfrm>
            <a:off x="5894616" y="3038489"/>
            <a:ext cx="60975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Average Salary (USD)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Total Compensation by Job Title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Employee Count by Experience Level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Salary Distribution by Education Level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Gender-Based Salary Percentage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Insight:</a:t>
            </a:r>
            <a:r>
              <a:rPr lang="en-US" dirty="0">
                <a:solidFill>
                  <a:schemeClr val="bg1"/>
                </a:solidFill>
              </a:rPr>
              <a:t> These KPIs support HR policy formulation and equitable pay structure evaluation.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/>
              <a:t>Data Driven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B92A46-93B9-25DF-18F7-C4ED52D0A302}"/>
              </a:ext>
            </a:extLst>
          </p:cNvPr>
          <p:cNvSpPr txBox="1"/>
          <p:nvPr/>
        </p:nvSpPr>
        <p:spPr>
          <a:xfrm>
            <a:off x="4065812" y="2260557"/>
            <a:ext cx="609755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Salary depends significantly on </a:t>
            </a:r>
            <a:r>
              <a:rPr lang="en-US" b="1" dirty="0">
                <a:solidFill>
                  <a:schemeClr val="bg1"/>
                </a:solidFill>
              </a:rPr>
              <a:t>education and professional experience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Gender-based salary variance</a:t>
            </a:r>
            <a:r>
              <a:rPr lang="en-US" dirty="0">
                <a:solidFill>
                  <a:schemeClr val="bg1"/>
                </a:solidFill>
              </a:rPr>
              <a:t> is minimal in managerial roles.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Companies should prioritize </a:t>
            </a:r>
            <a:r>
              <a:rPr lang="en-US" b="1" dirty="0">
                <a:solidFill>
                  <a:schemeClr val="bg1"/>
                </a:solidFill>
              </a:rPr>
              <a:t>education-based upskilling</a:t>
            </a:r>
            <a:r>
              <a:rPr lang="en-US" dirty="0">
                <a:solidFill>
                  <a:schemeClr val="bg1"/>
                </a:solidFill>
              </a:rPr>
              <a:t> for fair growth.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Geographic salary differences</a:t>
            </a:r>
            <a:r>
              <a:rPr lang="en-US" dirty="0">
                <a:solidFill>
                  <a:schemeClr val="bg1"/>
                </a:solidFill>
              </a:rPr>
              <a:t> indicate cost-of-living and demand variance.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 Conclusion Insight: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“Analytics transforms raw data into actionable insights that support evidence-based HR and compensation decisions</a:t>
            </a:r>
            <a:r>
              <a:rPr lang="en-US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7244-C264-7A82-9827-5BCFD540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E8F0B-A302-FE72-8751-0604169C972E}"/>
              </a:ext>
            </a:extLst>
          </p:cNvPr>
          <p:cNvSpPr txBox="1"/>
          <p:nvPr/>
        </p:nvSpPr>
        <p:spPr>
          <a:xfrm>
            <a:off x="3841881" y="2408956"/>
            <a:ext cx="60975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Salary Dataset Analysis provided valuable insights into how </a:t>
            </a:r>
            <a:r>
              <a:rPr lang="en-US" b="1" dirty="0">
                <a:solidFill>
                  <a:schemeClr val="bg1"/>
                </a:solidFill>
              </a:rPr>
              <a:t>education level, experience, and industry</a:t>
            </a:r>
            <a:r>
              <a:rPr lang="en-US" dirty="0">
                <a:solidFill>
                  <a:schemeClr val="bg1"/>
                </a:solidFill>
              </a:rPr>
              <a:t> significantly influence employee compensation.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Using </a:t>
            </a:r>
            <a:r>
              <a:rPr lang="en-US" b="1" dirty="0">
                <a:solidFill>
                  <a:schemeClr val="bg1"/>
                </a:solidFill>
              </a:rPr>
              <a:t>SQL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Excel</a:t>
            </a:r>
            <a:r>
              <a:rPr lang="en-US" dirty="0">
                <a:solidFill>
                  <a:schemeClr val="bg1"/>
                </a:solidFill>
              </a:rPr>
              <a:t>, salary patterns were analyzed across </a:t>
            </a:r>
            <a:r>
              <a:rPr lang="en-US" b="1" dirty="0">
                <a:solidFill>
                  <a:schemeClr val="bg1"/>
                </a:solidFill>
              </a:rPr>
              <a:t>genders, job titles, and countries</a:t>
            </a:r>
            <a:r>
              <a:rPr lang="en-US" dirty="0">
                <a:solidFill>
                  <a:schemeClr val="bg1"/>
                </a:solidFill>
              </a:rPr>
              <a:t>, revealing that higher education and greater experience lead to higher earnings.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 findings highlight the importance of </a:t>
            </a:r>
            <a:r>
              <a:rPr lang="en-US" b="1" dirty="0">
                <a:solidFill>
                  <a:schemeClr val="bg1"/>
                </a:solidFill>
              </a:rPr>
              <a:t>data-driven HR decisions</a:t>
            </a:r>
            <a:r>
              <a:rPr lang="en-US" dirty="0">
                <a:solidFill>
                  <a:schemeClr val="bg1"/>
                </a:solidFill>
              </a:rPr>
              <a:t> and support the need for </a:t>
            </a:r>
            <a:r>
              <a:rPr lang="en-US" b="1" dirty="0">
                <a:solidFill>
                  <a:schemeClr val="bg1"/>
                </a:solidFill>
              </a:rPr>
              <a:t>fair pay structures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skill-based growth opportunities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66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Krishna Kumar </a:t>
            </a:r>
          </a:p>
          <a:p>
            <a:r>
              <a:rPr lang="en-US" dirty="0"/>
              <a:t>DADS / July 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84</TotalTime>
  <Words>553</Words>
  <Application>Microsoft Office PowerPoint</Application>
  <PresentationFormat>Widescreen</PresentationFormat>
  <Paragraphs>102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Franklin Gothic Book</vt:lpstr>
      <vt:lpstr>Franklin Gothic Demi</vt:lpstr>
      <vt:lpstr>Times New Roman</vt:lpstr>
      <vt:lpstr>Wingdings</vt:lpstr>
      <vt:lpstr>Custom</vt:lpstr>
      <vt:lpstr>DA Milestone -1 (Salary Insights and Compensation Trends)</vt:lpstr>
      <vt:lpstr>Project Objective</vt:lpstr>
      <vt:lpstr>Dataset Overview</vt:lpstr>
      <vt:lpstr>PowerPoint Presentation</vt:lpstr>
      <vt:lpstr>Tools And Analytical Techniques</vt:lpstr>
      <vt:lpstr>SQL Analysis Highlights</vt:lpstr>
      <vt:lpstr>Excel Dashboard Overview</vt:lpstr>
      <vt:lpstr>Key Findings and Insights</vt:lpstr>
      <vt:lpstr>KPI’S and Metrics</vt:lpstr>
      <vt:lpstr>Data Driven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Ulaganathan K</dc:creator>
  <cp:lastModifiedBy>DEVADHARSHAN P</cp:lastModifiedBy>
  <cp:revision>3</cp:revision>
  <dcterms:created xsi:type="dcterms:W3CDTF">2025-11-11T05:38:04Z</dcterms:created>
  <dcterms:modified xsi:type="dcterms:W3CDTF">2025-11-12T07:23:01Z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